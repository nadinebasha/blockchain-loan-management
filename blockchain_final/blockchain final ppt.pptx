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6A7352-38CA-66D0-60CB-E973C5FCF9B6}" v="7" dt="2025-06-02T15:19:24.8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720"/>
  </p:normalViewPr>
  <p:slideViewPr>
    <p:cSldViewPr snapToGrid="0" snapToObjects="1">
      <p:cViewPr varScale="1">
        <p:scale>
          <a:sx n="102" d="100"/>
          <a:sy n="102" d="100"/>
        </p:scale>
        <p:origin x="9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01850E-16CB-4550-9DFB-41728156B0AA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DD6DB89-DE85-4CC2-9302-1F594898C11E}">
      <dgm:prSet/>
      <dgm:spPr/>
      <dgm:t>
        <a:bodyPr/>
        <a:lstStyle/>
        <a:p>
          <a:r>
            <a:rPr lang="en-US" dirty="0">
              <a:latin typeface="Grandview Display"/>
            </a:rPr>
            <a:t>Key Functionalities:</a:t>
          </a:r>
        </a:p>
      </dgm:t>
    </dgm:pt>
    <dgm:pt modelId="{7A2FB6A0-C555-46D5-965C-B9F8812D78A4}" type="parTrans" cxnId="{6EE9DBE4-87BA-41AE-87DF-E6143CE7FCC2}">
      <dgm:prSet/>
      <dgm:spPr/>
      <dgm:t>
        <a:bodyPr/>
        <a:lstStyle/>
        <a:p>
          <a:endParaRPr lang="en-US"/>
        </a:p>
      </dgm:t>
    </dgm:pt>
    <dgm:pt modelId="{AA2C106A-BD0E-4F74-9602-099C40CE692B}" type="sibTrans" cxnId="{6EE9DBE4-87BA-41AE-87DF-E6143CE7FCC2}">
      <dgm:prSet/>
      <dgm:spPr/>
      <dgm:t>
        <a:bodyPr/>
        <a:lstStyle/>
        <a:p>
          <a:endParaRPr lang="en-US"/>
        </a:p>
      </dgm:t>
    </dgm:pt>
    <dgm:pt modelId="{85F8C10D-4BCE-4C75-A4AB-7AEA5FD81408}">
      <dgm:prSet/>
      <dgm:spPr/>
      <dgm:t>
        <a:bodyPr/>
        <a:lstStyle/>
        <a:p>
          <a:r>
            <a:rPr lang="en-US" dirty="0">
              <a:latin typeface="Grandview Display"/>
            </a:rPr>
            <a:t>- `</a:t>
          </a:r>
          <a:r>
            <a:rPr lang="en-US" dirty="0" err="1">
              <a:latin typeface="Grandview Display"/>
            </a:rPr>
            <a:t>requestLoan</a:t>
          </a:r>
          <a:r>
            <a:rPr lang="en-US" dirty="0">
              <a:latin typeface="Grandview Display"/>
            </a:rPr>
            <a:t>()`: Borrower submits loan request (amount, interest, duration)</a:t>
          </a:r>
        </a:p>
      </dgm:t>
    </dgm:pt>
    <dgm:pt modelId="{3DA4F25E-A62F-494C-8A82-A80F15F4EA70}" type="parTrans" cxnId="{D53B0034-361C-4590-8712-0223CCF79165}">
      <dgm:prSet/>
      <dgm:spPr/>
      <dgm:t>
        <a:bodyPr/>
        <a:lstStyle/>
        <a:p>
          <a:endParaRPr lang="en-US"/>
        </a:p>
      </dgm:t>
    </dgm:pt>
    <dgm:pt modelId="{DCD38F91-1FBA-4D21-A396-878E1D77080F}" type="sibTrans" cxnId="{D53B0034-361C-4590-8712-0223CCF79165}">
      <dgm:prSet/>
      <dgm:spPr/>
      <dgm:t>
        <a:bodyPr/>
        <a:lstStyle/>
        <a:p>
          <a:endParaRPr lang="en-US"/>
        </a:p>
      </dgm:t>
    </dgm:pt>
    <dgm:pt modelId="{D36F9EDD-BF14-4BC1-AFF3-F99B6288E961}">
      <dgm:prSet/>
      <dgm:spPr/>
      <dgm:t>
        <a:bodyPr/>
        <a:lstStyle/>
        <a:p>
          <a:r>
            <a:rPr lang="en-US" dirty="0">
              <a:latin typeface="Grandview Display"/>
            </a:rPr>
            <a:t>- `</a:t>
          </a:r>
          <a:r>
            <a:rPr lang="en-US" dirty="0" err="1">
              <a:latin typeface="Grandview Display"/>
            </a:rPr>
            <a:t>approveLoan</a:t>
          </a:r>
          <a:r>
            <a:rPr lang="en-US" dirty="0">
              <a:latin typeface="Grandview Display"/>
            </a:rPr>
            <a:t>()`: Lender sends ETH and approves loan</a:t>
          </a:r>
        </a:p>
      </dgm:t>
    </dgm:pt>
    <dgm:pt modelId="{C539B691-B6EA-41D4-89FC-DCA9B892B797}" type="parTrans" cxnId="{CCC17F7A-31EE-4A1D-8B6F-31190CDC055F}">
      <dgm:prSet/>
      <dgm:spPr/>
      <dgm:t>
        <a:bodyPr/>
        <a:lstStyle/>
        <a:p>
          <a:endParaRPr lang="en-US"/>
        </a:p>
      </dgm:t>
    </dgm:pt>
    <dgm:pt modelId="{A577017A-FBB3-414F-827D-564119093036}" type="sibTrans" cxnId="{CCC17F7A-31EE-4A1D-8B6F-31190CDC055F}">
      <dgm:prSet/>
      <dgm:spPr/>
      <dgm:t>
        <a:bodyPr/>
        <a:lstStyle/>
        <a:p>
          <a:endParaRPr lang="en-US"/>
        </a:p>
      </dgm:t>
    </dgm:pt>
    <dgm:pt modelId="{5DEE5A0D-2FF7-498B-B0CA-A48967838A63}">
      <dgm:prSet/>
      <dgm:spPr/>
      <dgm:t>
        <a:bodyPr/>
        <a:lstStyle/>
        <a:p>
          <a:r>
            <a:rPr lang="en-US" dirty="0">
              <a:latin typeface="Grandview Display"/>
            </a:rPr>
            <a:t>- `</a:t>
          </a:r>
          <a:r>
            <a:rPr lang="en-US" dirty="0" err="1">
              <a:latin typeface="Grandview Display"/>
            </a:rPr>
            <a:t>repayLoan</a:t>
          </a:r>
          <a:r>
            <a:rPr lang="en-US" dirty="0">
              <a:latin typeface="Grandview Display"/>
            </a:rPr>
            <a:t>()`: Borrower repays the total (principal + interest)</a:t>
          </a:r>
        </a:p>
      </dgm:t>
    </dgm:pt>
    <dgm:pt modelId="{5D3F436C-1147-48EB-B4D8-F68B46ACAA20}" type="parTrans" cxnId="{5AE76E05-5913-4481-8597-BFFBB9917802}">
      <dgm:prSet/>
      <dgm:spPr/>
      <dgm:t>
        <a:bodyPr/>
        <a:lstStyle/>
        <a:p>
          <a:endParaRPr lang="en-US"/>
        </a:p>
      </dgm:t>
    </dgm:pt>
    <dgm:pt modelId="{55C325B9-F783-4B76-B3C5-4DBE33F41123}" type="sibTrans" cxnId="{5AE76E05-5913-4481-8597-BFFBB9917802}">
      <dgm:prSet/>
      <dgm:spPr/>
      <dgm:t>
        <a:bodyPr/>
        <a:lstStyle/>
        <a:p>
          <a:endParaRPr lang="en-US"/>
        </a:p>
      </dgm:t>
    </dgm:pt>
    <dgm:pt modelId="{3AC1F1C2-C682-40BB-9B4E-454F61910288}">
      <dgm:prSet/>
      <dgm:spPr/>
      <dgm:t>
        <a:bodyPr/>
        <a:lstStyle/>
        <a:p>
          <a:r>
            <a:rPr lang="en-US" dirty="0">
              <a:latin typeface="Grandview Display"/>
            </a:rPr>
            <a:t>- `</a:t>
          </a:r>
          <a:r>
            <a:rPr lang="en-US" dirty="0" err="1">
              <a:latin typeface="Grandview Display"/>
            </a:rPr>
            <a:t>checkStatus</a:t>
          </a:r>
          <a:r>
            <a:rPr lang="en-US" dirty="0">
              <a:latin typeface="Grandview Display"/>
            </a:rPr>
            <a:t>()`: Shows current loan state (Requested, Active, Repaid, Defaulted)</a:t>
          </a:r>
        </a:p>
      </dgm:t>
    </dgm:pt>
    <dgm:pt modelId="{3ABC453E-1EE8-47CB-96E8-D790246D4DBE}" type="parTrans" cxnId="{238D0EB0-A649-42A0-AFEC-8F4DF6F22CD1}">
      <dgm:prSet/>
      <dgm:spPr/>
      <dgm:t>
        <a:bodyPr/>
        <a:lstStyle/>
        <a:p>
          <a:endParaRPr lang="en-US"/>
        </a:p>
      </dgm:t>
    </dgm:pt>
    <dgm:pt modelId="{FB61EEE4-8626-43B8-A741-0F9A49DF2585}" type="sibTrans" cxnId="{238D0EB0-A649-42A0-AFEC-8F4DF6F22CD1}">
      <dgm:prSet/>
      <dgm:spPr/>
      <dgm:t>
        <a:bodyPr/>
        <a:lstStyle/>
        <a:p>
          <a:endParaRPr lang="en-US"/>
        </a:p>
      </dgm:t>
    </dgm:pt>
    <dgm:pt modelId="{9B084A86-2252-4470-AE2A-A509A67CBC14}">
      <dgm:prSet/>
      <dgm:spPr/>
      <dgm:t>
        <a:bodyPr/>
        <a:lstStyle/>
        <a:p>
          <a:r>
            <a:rPr lang="en-US" dirty="0">
              <a:latin typeface="Grandview Display"/>
            </a:rPr>
            <a:t>Automatic tracking of deadlines and repayments</a:t>
          </a:r>
        </a:p>
      </dgm:t>
    </dgm:pt>
    <dgm:pt modelId="{AA4B649E-C77B-4736-A8AD-3BD3F662C51E}" type="parTrans" cxnId="{3A41D869-00AE-442F-A406-622A21C8B4D1}">
      <dgm:prSet/>
      <dgm:spPr/>
      <dgm:t>
        <a:bodyPr/>
        <a:lstStyle/>
        <a:p>
          <a:endParaRPr lang="en-US"/>
        </a:p>
      </dgm:t>
    </dgm:pt>
    <dgm:pt modelId="{6E151444-A1BC-4B1E-A040-7A302CBDF508}" type="sibTrans" cxnId="{3A41D869-00AE-442F-A406-622A21C8B4D1}">
      <dgm:prSet/>
      <dgm:spPr/>
      <dgm:t>
        <a:bodyPr/>
        <a:lstStyle/>
        <a:p>
          <a:endParaRPr lang="en-US"/>
        </a:p>
      </dgm:t>
    </dgm:pt>
    <dgm:pt modelId="{65A9A2D3-67D5-47A9-BA79-4B7575A60FF0}">
      <dgm:prSet/>
      <dgm:spPr/>
      <dgm:t>
        <a:bodyPr/>
        <a:lstStyle/>
        <a:p>
          <a:r>
            <a:rPr lang="en-US" dirty="0">
              <a:latin typeface="Grandview Display"/>
            </a:rPr>
            <a:t>Transparency using blockchain</a:t>
          </a:r>
        </a:p>
      </dgm:t>
    </dgm:pt>
    <dgm:pt modelId="{D39560D4-D1B4-4153-9399-CD1B1DBB5B15}" type="parTrans" cxnId="{AE061469-D0A9-4C99-9DBF-F8F3DDB9E956}">
      <dgm:prSet/>
      <dgm:spPr/>
      <dgm:t>
        <a:bodyPr/>
        <a:lstStyle/>
        <a:p>
          <a:endParaRPr lang="en-US"/>
        </a:p>
      </dgm:t>
    </dgm:pt>
    <dgm:pt modelId="{0869A6B7-87D0-4149-A76F-CEB213700519}" type="sibTrans" cxnId="{AE061469-D0A9-4C99-9DBF-F8F3DDB9E956}">
      <dgm:prSet/>
      <dgm:spPr/>
      <dgm:t>
        <a:bodyPr/>
        <a:lstStyle/>
        <a:p>
          <a:endParaRPr lang="en-US"/>
        </a:p>
      </dgm:t>
    </dgm:pt>
    <dgm:pt modelId="{32E85F10-39D3-4EC7-81D2-2F8BB2293362}" type="pres">
      <dgm:prSet presAssocID="{F101850E-16CB-4550-9DFB-41728156B0AA}" presName="Name0" presStyleCnt="0">
        <dgm:presLayoutVars>
          <dgm:dir/>
          <dgm:resizeHandles val="exact"/>
        </dgm:presLayoutVars>
      </dgm:prSet>
      <dgm:spPr/>
    </dgm:pt>
    <dgm:pt modelId="{B9C68190-8244-4D17-8815-8A9FFDCD0E40}" type="pres">
      <dgm:prSet presAssocID="{2DD6DB89-DE85-4CC2-9302-1F594898C11E}" presName="node" presStyleLbl="node1" presStyleIdx="0" presStyleCnt="7">
        <dgm:presLayoutVars>
          <dgm:bulletEnabled val="1"/>
        </dgm:presLayoutVars>
      </dgm:prSet>
      <dgm:spPr/>
    </dgm:pt>
    <dgm:pt modelId="{FC7442A7-CFB7-4D1F-9F47-AA4D51598B30}" type="pres">
      <dgm:prSet presAssocID="{AA2C106A-BD0E-4F74-9602-099C40CE692B}" presName="sibTrans" presStyleLbl="sibTrans1D1" presStyleIdx="0" presStyleCnt="6"/>
      <dgm:spPr/>
    </dgm:pt>
    <dgm:pt modelId="{5165065A-F167-4267-B4B1-6D30F3DFA590}" type="pres">
      <dgm:prSet presAssocID="{AA2C106A-BD0E-4F74-9602-099C40CE692B}" presName="connectorText" presStyleLbl="sibTrans1D1" presStyleIdx="0" presStyleCnt="6"/>
      <dgm:spPr/>
    </dgm:pt>
    <dgm:pt modelId="{56413F3B-8669-41AA-A679-498B6C0A2B31}" type="pres">
      <dgm:prSet presAssocID="{85F8C10D-4BCE-4C75-A4AB-7AEA5FD81408}" presName="node" presStyleLbl="node1" presStyleIdx="1" presStyleCnt="7">
        <dgm:presLayoutVars>
          <dgm:bulletEnabled val="1"/>
        </dgm:presLayoutVars>
      </dgm:prSet>
      <dgm:spPr/>
    </dgm:pt>
    <dgm:pt modelId="{295E15B4-3499-405F-9A74-532A72D3DE78}" type="pres">
      <dgm:prSet presAssocID="{DCD38F91-1FBA-4D21-A396-878E1D77080F}" presName="sibTrans" presStyleLbl="sibTrans1D1" presStyleIdx="1" presStyleCnt="6"/>
      <dgm:spPr/>
    </dgm:pt>
    <dgm:pt modelId="{90952E49-59B0-4DAC-8AB7-0D0121CFBC14}" type="pres">
      <dgm:prSet presAssocID="{DCD38F91-1FBA-4D21-A396-878E1D77080F}" presName="connectorText" presStyleLbl="sibTrans1D1" presStyleIdx="1" presStyleCnt="6"/>
      <dgm:spPr/>
    </dgm:pt>
    <dgm:pt modelId="{CCA5ED9F-95DA-4B57-93D1-DEBA3791100E}" type="pres">
      <dgm:prSet presAssocID="{D36F9EDD-BF14-4BC1-AFF3-F99B6288E961}" presName="node" presStyleLbl="node1" presStyleIdx="2" presStyleCnt="7">
        <dgm:presLayoutVars>
          <dgm:bulletEnabled val="1"/>
        </dgm:presLayoutVars>
      </dgm:prSet>
      <dgm:spPr/>
    </dgm:pt>
    <dgm:pt modelId="{C6827EE6-7E4F-4FFA-9C82-364BDA57EF5A}" type="pres">
      <dgm:prSet presAssocID="{A577017A-FBB3-414F-827D-564119093036}" presName="sibTrans" presStyleLbl="sibTrans1D1" presStyleIdx="2" presStyleCnt="6"/>
      <dgm:spPr/>
    </dgm:pt>
    <dgm:pt modelId="{D193E20B-CEB1-42F4-9D2E-7F563100183D}" type="pres">
      <dgm:prSet presAssocID="{A577017A-FBB3-414F-827D-564119093036}" presName="connectorText" presStyleLbl="sibTrans1D1" presStyleIdx="2" presStyleCnt="6"/>
      <dgm:spPr/>
    </dgm:pt>
    <dgm:pt modelId="{609B7C9C-3548-4811-A5A1-D3C5CD854AF1}" type="pres">
      <dgm:prSet presAssocID="{5DEE5A0D-2FF7-498B-B0CA-A48967838A63}" presName="node" presStyleLbl="node1" presStyleIdx="3" presStyleCnt="7">
        <dgm:presLayoutVars>
          <dgm:bulletEnabled val="1"/>
        </dgm:presLayoutVars>
      </dgm:prSet>
      <dgm:spPr/>
    </dgm:pt>
    <dgm:pt modelId="{D87DC300-B7F3-47E7-9B2C-A3BF46604561}" type="pres">
      <dgm:prSet presAssocID="{55C325B9-F783-4B76-B3C5-4DBE33F41123}" presName="sibTrans" presStyleLbl="sibTrans1D1" presStyleIdx="3" presStyleCnt="6"/>
      <dgm:spPr/>
    </dgm:pt>
    <dgm:pt modelId="{1C0DEED9-9366-4231-8102-52523528E6DD}" type="pres">
      <dgm:prSet presAssocID="{55C325B9-F783-4B76-B3C5-4DBE33F41123}" presName="connectorText" presStyleLbl="sibTrans1D1" presStyleIdx="3" presStyleCnt="6"/>
      <dgm:spPr/>
    </dgm:pt>
    <dgm:pt modelId="{44C56916-1ACC-48F7-B5B2-53C5E9B86677}" type="pres">
      <dgm:prSet presAssocID="{3AC1F1C2-C682-40BB-9B4E-454F61910288}" presName="node" presStyleLbl="node1" presStyleIdx="4" presStyleCnt="7">
        <dgm:presLayoutVars>
          <dgm:bulletEnabled val="1"/>
        </dgm:presLayoutVars>
      </dgm:prSet>
      <dgm:spPr/>
    </dgm:pt>
    <dgm:pt modelId="{D7AA06F2-A8FD-49F6-90CC-7CD7D35B6FD4}" type="pres">
      <dgm:prSet presAssocID="{FB61EEE4-8626-43B8-A741-0F9A49DF2585}" presName="sibTrans" presStyleLbl="sibTrans1D1" presStyleIdx="4" presStyleCnt="6"/>
      <dgm:spPr/>
    </dgm:pt>
    <dgm:pt modelId="{A6AA722A-AE78-463D-8110-A19A2A042EE3}" type="pres">
      <dgm:prSet presAssocID="{FB61EEE4-8626-43B8-A741-0F9A49DF2585}" presName="connectorText" presStyleLbl="sibTrans1D1" presStyleIdx="4" presStyleCnt="6"/>
      <dgm:spPr/>
    </dgm:pt>
    <dgm:pt modelId="{EC6C6D54-A922-4E5C-A04C-33B7F24F57BA}" type="pres">
      <dgm:prSet presAssocID="{9B084A86-2252-4470-AE2A-A509A67CBC14}" presName="node" presStyleLbl="node1" presStyleIdx="5" presStyleCnt="7">
        <dgm:presLayoutVars>
          <dgm:bulletEnabled val="1"/>
        </dgm:presLayoutVars>
      </dgm:prSet>
      <dgm:spPr/>
    </dgm:pt>
    <dgm:pt modelId="{DF6EB9A1-0B6D-40BD-B24E-FC67CB2AA304}" type="pres">
      <dgm:prSet presAssocID="{6E151444-A1BC-4B1E-A040-7A302CBDF508}" presName="sibTrans" presStyleLbl="sibTrans1D1" presStyleIdx="5" presStyleCnt="6"/>
      <dgm:spPr/>
    </dgm:pt>
    <dgm:pt modelId="{A7B5049C-DD49-4A87-AC5E-58D9F9F4DF18}" type="pres">
      <dgm:prSet presAssocID="{6E151444-A1BC-4B1E-A040-7A302CBDF508}" presName="connectorText" presStyleLbl="sibTrans1D1" presStyleIdx="5" presStyleCnt="6"/>
      <dgm:spPr/>
    </dgm:pt>
    <dgm:pt modelId="{5154C901-5C1B-4F72-9FC6-51D35B20FB63}" type="pres">
      <dgm:prSet presAssocID="{65A9A2D3-67D5-47A9-BA79-4B7575A60FF0}" presName="node" presStyleLbl="node1" presStyleIdx="6" presStyleCnt="7">
        <dgm:presLayoutVars>
          <dgm:bulletEnabled val="1"/>
        </dgm:presLayoutVars>
      </dgm:prSet>
      <dgm:spPr/>
    </dgm:pt>
  </dgm:ptLst>
  <dgm:cxnLst>
    <dgm:cxn modelId="{5AE76E05-5913-4481-8597-BFFBB9917802}" srcId="{F101850E-16CB-4550-9DFB-41728156B0AA}" destId="{5DEE5A0D-2FF7-498B-B0CA-A48967838A63}" srcOrd="3" destOrd="0" parTransId="{5D3F436C-1147-48EB-B4D8-F68B46ACAA20}" sibTransId="{55C325B9-F783-4B76-B3C5-4DBE33F41123}"/>
    <dgm:cxn modelId="{73CCEE06-3F22-4D82-9386-7940B491CE52}" type="presOf" srcId="{6E151444-A1BC-4B1E-A040-7A302CBDF508}" destId="{A7B5049C-DD49-4A87-AC5E-58D9F9F4DF18}" srcOrd="1" destOrd="0" presId="urn:microsoft.com/office/officeart/2016/7/layout/RepeatingBendingProcessNew"/>
    <dgm:cxn modelId="{3583CE12-1A21-418A-AE68-6988C0537D95}" type="presOf" srcId="{A577017A-FBB3-414F-827D-564119093036}" destId="{C6827EE6-7E4F-4FFA-9C82-364BDA57EF5A}" srcOrd="0" destOrd="0" presId="urn:microsoft.com/office/officeart/2016/7/layout/RepeatingBendingProcessNew"/>
    <dgm:cxn modelId="{10F04415-4B32-488C-AD21-7E32273C05A9}" type="presOf" srcId="{55C325B9-F783-4B76-B3C5-4DBE33F41123}" destId="{D87DC300-B7F3-47E7-9B2C-A3BF46604561}" srcOrd="0" destOrd="0" presId="urn:microsoft.com/office/officeart/2016/7/layout/RepeatingBendingProcessNew"/>
    <dgm:cxn modelId="{A6888A2D-188D-40E0-B4B9-29E93BA9D381}" type="presOf" srcId="{FB61EEE4-8626-43B8-A741-0F9A49DF2585}" destId="{A6AA722A-AE78-463D-8110-A19A2A042EE3}" srcOrd="1" destOrd="0" presId="urn:microsoft.com/office/officeart/2016/7/layout/RepeatingBendingProcessNew"/>
    <dgm:cxn modelId="{D53B0034-361C-4590-8712-0223CCF79165}" srcId="{F101850E-16CB-4550-9DFB-41728156B0AA}" destId="{85F8C10D-4BCE-4C75-A4AB-7AEA5FD81408}" srcOrd="1" destOrd="0" parTransId="{3DA4F25E-A62F-494C-8A82-A80F15F4EA70}" sibTransId="{DCD38F91-1FBA-4D21-A396-878E1D77080F}"/>
    <dgm:cxn modelId="{2431A75F-E948-4C23-8C16-A9FA77E531E0}" type="presOf" srcId="{3AC1F1C2-C682-40BB-9B4E-454F61910288}" destId="{44C56916-1ACC-48F7-B5B2-53C5E9B86677}" srcOrd="0" destOrd="0" presId="urn:microsoft.com/office/officeart/2016/7/layout/RepeatingBendingProcessNew"/>
    <dgm:cxn modelId="{8989F342-1855-4DBC-8D53-708104A3A25B}" type="presOf" srcId="{2DD6DB89-DE85-4CC2-9302-1F594898C11E}" destId="{B9C68190-8244-4D17-8815-8A9FFDCD0E40}" srcOrd="0" destOrd="0" presId="urn:microsoft.com/office/officeart/2016/7/layout/RepeatingBendingProcessNew"/>
    <dgm:cxn modelId="{140AFD64-CF7C-4F49-94A0-6CF9F10DDED4}" type="presOf" srcId="{DCD38F91-1FBA-4D21-A396-878E1D77080F}" destId="{90952E49-59B0-4DAC-8AB7-0D0121CFBC14}" srcOrd="1" destOrd="0" presId="urn:microsoft.com/office/officeart/2016/7/layout/RepeatingBendingProcessNew"/>
    <dgm:cxn modelId="{3BF3C546-6312-4374-9D13-5A39F6E5A5D2}" type="presOf" srcId="{DCD38F91-1FBA-4D21-A396-878E1D77080F}" destId="{295E15B4-3499-405F-9A74-532A72D3DE78}" srcOrd="0" destOrd="0" presId="urn:microsoft.com/office/officeart/2016/7/layout/RepeatingBendingProcessNew"/>
    <dgm:cxn modelId="{DEB3EE46-5CDE-4583-A8BF-BE97484E13CF}" type="presOf" srcId="{6E151444-A1BC-4B1E-A040-7A302CBDF508}" destId="{DF6EB9A1-0B6D-40BD-B24E-FC67CB2AA304}" srcOrd="0" destOrd="0" presId="urn:microsoft.com/office/officeart/2016/7/layout/RepeatingBendingProcessNew"/>
    <dgm:cxn modelId="{AE061469-D0A9-4C99-9DBF-F8F3DDB9E956}" srcId="{F101850E-16CB-4550-9DFB-41728156B0AA}" destId="{65A9A2D3-67D5-47A9-BA79-4B7575A60FF0}" srcOrd="6" destOrd="0" parTransId="{D39560D4-D1B4-4153-9399-CD1B1DBB5B15}" sibTransId="{0869A6B7-87D0-4149-A76F-CEB213700519}"/>
    <dgm:cxn modelId="{3A41D869-00AE-442F-A406-622A21C8B4D1}" srcId="{F101850E-16CB-4550-9DFB-41728156B0AA}" destId="{9B084A86-2252-4470-AE2A-A509A67CBC14}" srcOrd="5" destOrd="0" parTransId="{AA4B649E-C77B-4736-A8AD-3BD3F662C51E}" sibTransId="{6E151444-A1BC-4B1E-A040-7A302CBDF508}"/>
    <dgm:cxn modelId="{B23B4170-AB1A-4087-98A3-690BEEBC3041}" type="presOf" srcId="{55C325B9-F783-4B76-B3C5-4DBE33F41123}" destId="{1C0DEED9-9366-4231-8102-52523528E6DD}" srcOrd="1" destOrd="0" presId="urn:microsoft.com/office/officeart/2016/7/layout/RepeatingBendingProcessNew"/>
    <dgm:cxn modelId="{9B3EB177-F208-4EAA-AAF2-A9732D515999}" type="presOf" srcId="{65A9A2D3-67D5-47A9-BA79-4B7575A60FF0}" destId="{5154C901-5C1B-4F72-9FC6-51D35B20FB63}" srcOrd="0" destOrd="0" presId="urn:microsoft.com/office/officeart/2016/7/layout/RepeatingBendingProcessNew"/>
    <dgm:cxn modelId="{CCC17F7A-31EE-4A1D-8B6F-31190CDC055F}" srcId="{F101850E-16CB-4550-9DFB-41728156B0AA}" destId="{D36F9EDD-BF14-4BC1-AFF3-F99B6288E961}" srcOrd="2" destOrd="0" parTransId="{C539B691-B6EA-41D4-89FC-DCA9B892B797}" sibTransId="{A577017A-FBB3-414F-827D-564119093036}"/>
    <dgm:cxn modelId="{C251627C-5100-49E0-89D4-AB3FBCCE4B9B}" type="presOf" srcId="{AA2C106A-BD0E-4F74-9602-099C40CE692B}" destId="{FC7442A7-CFB7-4D1F-9F47-AA4D51598B30}" srcOrd="0" destOrd="0" presId="urn:microsoft.com/office/officeart/2016/7/layout/RepeatingBendingProcessNew"/>
    <dgm:cxn modelId="{FF7A1498-280E-4ED2-AED2-A80F3CEA5FBF}" type="presOf" srcId="{5DEE5A0D-2FF7-498B-B0CA-A48967838A63}" destId="{609B7C9C-3548-4811-A5A1-D3C5CD854AF1}" srcOrd="0" destOrd="0" presId="urn:microsoft.com/office/officeart/2016/7/layout/RepeatingBendingProcessNew"/>
    <dgm:cxn modelId="{8CBA10A2-EB83-4B42-8165-60F797441F18}" type="presOf" srcId="{AA2C106A-BD0E-4F74-9602-099C40CE692B}" destId="{5165065A-F167-4267-B4B1-6D30F3DFA590}" srcOrd="1" destOrd="0" presId="urn:microsoft.com/office/officeart/2016/7/layout/RepeatingBendingProcessNew"/>
    <dgm:cxn modelId="{DA4FE7A3-A479-4A16-9CC2-3945D8544413}" type="presOf" srcId="{F101850E-16CB-4550-9DFB-41728156B0AA}" destId="{32E85F10-39D3-4EC7-81D2-2F8BB2293362}" srcOrd="0" destOrd="0" presId="urn:microsoft.com/office/officeart/2016/7/layout/RepeatingBendingProcessNew"/>
    <dgm:cxn modelId="{238D0EB0-A649-42A0-AFEC-8F4DF6F22CD1}" srcId="{F101850E-16CB-4550-9DFB-41728156B0AA}" destId="{3AC1F1C2-C682-40BB-9B4E-454F61910288}" srcOrd="4" destOrd="0" parTransId="{3ABC453E-1EE8-47CB-96E8-D790246D4DBE}" sibTransId="{FB61EEE4-8626-43B8-A741-0F9A49DF2585}"/>
    <dgm:cxn modelId="{978444C7-E2D3-447E-B68A-B8DE25A22FE3}" type="presOf" srcId="{9B084A86-2252-4470-AE2A-A509A67CBC14}" destId="{EC6C6D54-A922-4E5C-A04C-33B7F24F57BA}" srcOrd="0" destOrd="0" presId="urn:microsoft.com/office/officeart/2016/7/layout/RepeatingBendingProcessNew"/>
    <dgm:cxn modelId="{856FABCA-B2EB-48A4-A53A-DFA3D3332664}" type="presOf" srcId="{FB61EEE4-8626-43B8-A741-0F9A49DF2585}" destId="{D7AA06F2-A8FD-49F6-90CC-7CD7D35B6FD4}" srcOrd="0" destOrd="0" presId="urn:microsoft.com/office/officeart/2016/7/layout/RepeatingBendingProcessNew"/>
    <dgm:cxn modelId="{C70AD0D3-91E5-42EA-8857-C73AC0311FA5}" type="presOf" srcId="{A577017A-FBB3-414F-827D-564119093036}" destId="{D193E20B-CEB1-42F4-9D2E-7F563100183D}" srcOrd="1" destOrd="0" presId="urn:microsoft.com/office/officeart/2016/7/layout/RepeatingBendingProcessNew"/>
    <dgm:cxn modelId="{EA7B56E3-57C3-4878-893C-C420810971CD}" type="presOf" srcId="{85F8C10D-4BCE-4C75-A4AB-7AEA5FD81408}" destId="{56413F3B-8669-41AA-A679-498B6C0A2B31}" srcOrd="0" destOrd="0" presId="urn:microsoft.com/office/officeart/2016/7/layout/RepeatingBendingProcessNew"/>
    <dgm:cxn modelId="{6EE9DBE4-87BA-41AE-87DF-E6143CE7FCC2}" srcId="{F101850E-16CB-4550-9DFB-41728156B0AA}" destId="{2DD6DB89-DE85-4CC2-9302-1F594898C11E}" srcOrd="0" destOrd="0" parTransId="{7A2FB6A0-C555-46D5-965C-B9F8812D78A4}" sibTransId="{AA2C106A-BD0E-4F74-9602-099C40CE692B}"/>
    <dgm:cxn modelId="{648949FA-1A40-43EE-902B-BC4125C94EA9}" type="presOf" srcId="{D36F9EDD-BF14-4BC1-AFF3-F99B6288E961}" destId="{CCA5ED9F-95DA-4B57-93D1-DEBA3791100E}" srcOrd="0" destOrd="0" presId="urn:microsoft.com/office/officeart/2016/7/layout/RepeatingBendingProcessNew"/>
    <dgm:cxn modelId="{49AC5BC3-34D4-4533-AD93-18CDF7C5813C}" type="presParOf" srcId="{32E85F10-39D3-4EC7-81D2-2F8BB2293362}" destId="{B9C68190-8244-4D17-8815-8A9FFDCD0E40}" srcOrd="0" destOrd="0" presId="urn:microsoft.com/office/officeart/2016/7/layout/RepeatingBendingProcessNew"/>
    <dgm:cxn modelId="{79E08949-B206-4CFB-A6A8-F93141E46DA6}" type="presParOf" srcId="{32E85F10-39D3-4EC7-81D2-2F8BB2293362}" destId="{FC7442A7-CFB7-4D1F-9F47-AA4D51598B30}" srcOrd="1" destOrd="0" presId="urn:microsoft.com/office/officeart/2016/7/layout/RepeatingBendingProcessNew"/>
    <dgm:cxn modelId="{647D049E-6DC3-41E2-BA73-00FB8AB10E07}" type="presParOf" srcId="{FC7442A7-CFB7-4D1F-9F47-AA4D51598B30}" destId="{5165065A-F167-4267-B4B1-6D30F3DFA590}" srcOrd="0" destOrd="0" presId="urn:microsoft.com/office/officeart/2016/7/layout/RepeatingBendingProcessNew"/>
    <dgm:cxn modelId="{A241B0B0-8324-4BA2-B3D1-727D8BC756A4}" type="presParOf" srcId="{32E85F10-39D3-4EC7-81D2-2F8BB2293362}" destId="{56413F3B-8669-41AA-A679-498B6C0A2B31}" srcOrd="2" destOrd="0" presId="urn:microsoft.com/office/officeart/2016/7/layout/RepeatingBendingProcessNew"/>
    <dgm:cxn modelId="{CA6D635A-FCA1-4B7D-9D7D-3EC3E523946B}" type="presParOf" srcId="{32E85F10-39D3-4EC7-81D2-2F8BB2293362}" destId="{295E15B4-3499-405F-9A74-532A72D3DE78}" srcOrd="3" destOrd="0" presId="urn:microsoft.com/office/officeart/2016/7/layout/RepeatingBendingProcessNew"/>
    <dgm:cxn modelId="{97428EF9-946E-451D-91E8-E2ADD8974B74}" type="presParOf" srcId="{295E15B4-3499-405F-9A74-532A72D3DE78}" destId="{90952E49-59B0-4DAC-8AB7-0D0121CFBC14}" srcOrd="0" destOrd="0" presId="urn:microsoft.com/office/officeart/2016/7/layout/RepeatingBendingProcessNew"/>
    <dgm:cxn modelId="{3112132D-83E7-4A29-AC2F-868FAA95B9B3}" type="presParOf" srcId="{32E85F10-39D3-4EC7-81D2-2F8BB2293362}" destId="{CCA5ED9F-95DA-4B57-93D1-DEBA3791100E}" srcOrd="4" destOrd="0" presId="urn:microsoft.com/office/officeart/2016/7/layout/RepeatingBendingProcessNew"/>
    <dgm:cxn modelId="{245ADD6F-2CE2-4ABB-98D5-2522ECC6E6A6}" type="presParOf" srcId="{32E85F10-39D3-4EC7-81D2-2F8BB2293362}" destId="{C6827EE6-7E4F-4FFA-9C82-364BDA57EF5A}" srcOrd="5" destOrd="0" presId="urn:microsoft.com/office/officeart/2016/7/layout/RepeatingBendingProcessNew"/>
    <dgm:cxn modelId="{52350DD4-4656-4629-9CA2-EC403D0AD6D2}" type="presParOf" srcId="{C6827EE6-7E4F-4FFA-9C82-364BDA57EF5A}" destId="{D193E20B-CEB1-42F4-9D2E-7F563100183D}" srcOrd="0" destOrd="0" presId="urn:microsoft.com/office/officeart/2016/7/layout/RepeatingBendingProcessNew"/>
    <dgm:cxn modelId="{7578B25E-4834-4D86-A7E5-39485A310CD0}" type="presParOf" srcId="{32E85F10-39D3-4EC7-81D2-2F8BB2293362}" destId="{609B7C9C-3548-4811-A5A1-D3C5CD854AF1}" srcOrd="6" destOrd="0" presId="urn:microsoft.com/office/officeart/2016/7/layout/RepeatingBendingProcessNew"/>
    <dgm:cxn modelId="{086DBCB6-185B-4FE5-BC41-2DEEA1FDCB2E}" type="presParOf" srcId="{32E85F10-39D3-4EC7-81D2-2F8BB2293362}" destId="{D87DC300-B7F3-47E7-9B2C-A3BF46604561}" srcOrd="7" destOrd="0" presId="urn:microsoft.com/office/officeart/2016/7/layout/RepeatingBendingProcessNew"/>
    <dgm:cxn modelId="{BB487714-325B-4AF8-A8D9-397E6A830245}" type="presParOf" srcId="{D87DC300-B7F3-47E7-9B2C-A3BF46604561}" destId="{1C0DEED9-9366-4231-8102-52523528E6DD}" srcOrd="0" destOrd="0" presId="urn:microsoft.com/office/officeart/2016/7/layout/RepeatingBendingProcessNew"/>
    <dgm:cxn modelId="{239A6CEC-8228-45A3-9C8A-B47B349169AA}" type="presParOf" srcId="{32E85F10-39D3-4EC7-81D2-2F8BB2293362}" destId="{44C56916-1ACC-48F7-B5B2-53C5E9B86677}" srcOrd="8" destOrd="0" presId="urn:microsoft.com/office/officeart/2016/7/layout/RepeatingBendingProcessNew"/>
    <dgm:cxn modelId="{B35EEFE2-2FBE-482A-8A6F-BD957DD00014}" type="presParOf" srcId="{32E85F10-39D3-4EC7-81D2-2F8BB2293362}" destId="{D7AA06F2-A8FD-49F6-90CC-7CD7D35B6FD4}" srcOrd="9" destOrd="0" presId="urn:microsoft.com/office/officeart/2016/7/layout/RepeatingBendingProcessNew"/>
    <dgm:cxn modelId="{A0FBE716-A849-456D-8CF8-D19EAD957E5A}" type="presParOf" srcId="{D7AA06F2-A8FD-49F6-90CC-7CD7D35B6FD4}" destId="{A6AA722A-AE78-463D-8110-A19A2A042EE3}" srcOrd="0" destOrd="0" presId="urn:microsoft.com/office/officeart/2016/7/layout/RepeatingBendingProcessNew"/>
    <dgm:cxn modelId="{40EF4B6A-AE3A-493B-8039-48151B995AC3}" type="presParOf" srcId="{32E85F10-39D3-4EC7-81D2-2F8BB2293362}" destId="{EC6C6D54-A922-4E5C-A04C-33B7F24F57BA}" srcOrd="10" destOrd="0" presId="urn:microsoft.com/office/officeart/2016/7/layout/RepeatingBendingProcessNew"/>
    <dgm:cxn modelId="{012B7E4A-405F-49DD-AA9F-82A91B7B0493}" type="presParOf" srcId="{32E85F10-39D3-4EC7-81D2-2F8BB2293362}" destId="{DF6EB9A1-0B6D-40BD-B24E-FC67CB2AA304}" srcOrd="11" destOrd="0" presId="urn:microsoft.com/office/officeart/2016/7/layout/RepeatingBendingProcessNew"/>
    <dgm:cxn modelId="{47136879-A06C-48EC-AEE4-B7B7C3308C04}" type="presParOf" srcId="{DF6EB9A1-0B6D-40BD-B24E-FC67CB2AA304}" destId="{A7B5049C-DD49-4A87-AC5E-58D9F9F4DF18}" srcOrd="0" destOrd="0" presId="urn:microsoft.com/office/officeart/2016/7/layout/RepeatingBendingProcessNew"/>
    <dgm:cxn modelId="{47A2AF0C-D032-40F9-A153-EEC9A8E62A92}" type="presParOf" srcId="{32E85F10-39D3-4EC7-81D2-2F8BB2293362}" destId="{5154C901-5C1B-4F72-9FC6-51D35B20FB63}" srcOrd="12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7442A7-CFB7-4D1F-9F47-AA4D51598B30}">
      <dsp:nvSpPr>
        <dsp:cNvPr id="0" name=""/>
        <dsp:cNvSpPr/>
      </dsp:nvSpPr>
      <dsp:spPr>
        <a:xfrm>
          <a:off x="2944012" y="578921"/>
          <a:ext cx="4456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5687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4949" y="622259"/>
        <a:ext cx="23814" cy="4762"/>
      </dsp:txXfrm>
    </dsp:sp>
    <dsp:sp modelId="{B9C68190-8244-4D17-8815-8A9FFDCD0E40}">
      <dsp:nvSpPr>
        <dsp:cNvPr id="0" name=""/>
        <dsp:cNvSpPr/>
      </dsp:nvSpPr>
      <dsp:spPr>
        <a:xfrm>
          <a:off x="874997" y="3396"/>
          <a:ext cx="2070815" cy="124248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472" tIns="106512" rIns="101472" bIns="10651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Grandview Display"/>
            </a:rPr>
            <a:t>Key Functionalities:</a:t>
          </a:r>
        </a:p>
      </dsp:txBody>
      <dsp:txXfrm>
        <a:off x="874997" y="3396"/>
        <a:ext cx="2070815" cy="1242489"/>
      </dsp:txXfrm>
    </dsp:sp>
    <dsp:sp modelId="{295E15B4-3499-405F-9A74-532A72D3DE78}">
      <dsp:nvSpPr>
        <dsp:cNvPr id="0" name=""/>
        <dsp:cNvSpPr/>
      </dsp:nvSpPr>
      <dsp:spPr>
        <a:xfrm>
          <a:off x="1910404" y="1244085"/>
          <a:ext cx="2547103" cy="445687"/>
        </a:xfrm>
        <a:custGeom>
          <a:avLst/>
          <a:gdLst/>
          <a:ahLst/>
          <a:cxnLst/>
          <a:rect l="0" t="0" r="0" b="0"/>
          <a:pathLst>
            <a:path>
              <a:moveTo>
                <a:pt x="2547103" y="0"/>
              </a:moveTo>
              <a:lnTo>
                <a:pt x="2547103" y="239943"/>
              </a:lnTo>
              <a:lnTo>
                <a:pt x="0" y="239943"/>
              </a:lnTo>
              <a:lnTo>
                <a:pt x="0" y="445687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9175" y="1464548"/>
        <a:ext cx="129562" cy="4762"/>
      </dsp:txXfrm>
    </dsp:sp>
    <dsp:sp modelId="{56413F3B-8669-41AA-A679-498B6C0A2B31}">
      <dsp:nvSpPr>
        <dsp:cNvPr id="0" name=""/>
        <dsp:cNvSpPr/>
      </dsp:nvSpPr>
      <dsp:spPr>
        <a:xfrm>
          <a:off x="3422100" y="3396"/>
          <a:ext cx="2070815" cy="124248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472" tIns="106512" rIns="101472" bIns="10651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Grandview Display"/>
            </a:rPr>
            <a:t>- `</a:t>
          </a:r>
          <a:r>
            <a:rPr lang="en-US" sz="1500" kern="1200" dirty="0" err="1">
              <a:latin typeface="Grandview Display"/>
            </a:rPr>
            <a:t>requestLoan</a:t>
          </a:r>
          <a:r>
            <a:rPr lang="en-US" sz="1500" kern="1200" dirty="0">
              <a:latin typeface="Grandview Display"/>
            </a:rPr>
            <a:t>()`: Borrower submits loan request (amount, interest, duration)</a:t>
          </a:r>
        </a:p>
      </dsp:txBody>
      <dsp:txXfrm>
        <a:off x="3422100" y="3396"/>
        <a:ext cx="2070815" cy="1242489"/>
      </dsp:txXfrm>
    </dsp:sp>
    <dsp:sp modelId="{C6827EE6-7E4F-4FFA-9C82-364BDA57EF5A}">
      <dsp:nvSpPr>
        <dsp:cNvPr id="0" name=""/>
        <dsp:cNvSpPr/>
      </dsp:nvSpPr>
      <dsp:spPr>
        <a:xfrm>
          <a:off x="2944012" y="2297698"/>
          <a:ext cx="4456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5687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4949" y="2341036"/>
        <a:ext cx="23814" cy="4762"/>
      </dsp:txXfrm>
    </dsp:sp>
    <dsp:sp modelId="{CCA5ED9F-95DA-4B57-93D1-DEBA3791100E}">
      <dsp:nvSpPr>
        <dsp:cNvPr id="0" name=""/>
        <dsp:cNvSpPr/>
      </dsp:nvSpPr>
      <dsp:spPr>
        <a:xfrm>
          <a:off x="874997" y="1722173"/>
          <a:ext cx="2070815" cy="124248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472" tIns="106512" rIns="101472" bIns="10651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Grandview Display"/>
            </a:rPr>
            <a:t>- `</a:t>
          </a:r>
          <a:r>
            <a:rPr lang="en-US" sz="1500" kern="1200" dirty="0" err="1">
              <a:latin typeface="Grandview Display"/>
            </a:rPr>
            <a:t>approveLoan</a:t>
          </a:r>
          <a:r>
            <a:rPr lang="en-US" sz="1500" kern="1200" dirty="0">
              <a:latin typeface="Grandview Display"/>
            </a:rPr>
            <a:t>()`: Lender sends ETH and approves loan</a:t>
          </a:r>
        </a:p>
      </dsp:txBody>
      <dsp:txXfrm>
        <a:off x="874997" y="1722173"/>
        <a:ext cx="2070815" cy="1242489"/>
      </dsp:txXfrm>
    </dsp:sp>
    <dsp:sp modelId="{D87DC300-B7F3-47E7-9B2C-A3BF46604561}">
      <dsp:nvSpPr>
        <dsp:cNvPr id="0" name=""/>
        <dsp:cNvSpPr/>
      </dsp:nvSpPr>
      <dsp:spPr>
        <a:xfrm>
          <a:off x="1910404" y="2962862"/>
          <a:ext cx="2547103" cy="445687"/>
        </a:xfrm>
        <a:custGeom>
          <a:avLst/>
          <a:gdLst/>
          <a:ahLst/>
          <a:cxnLst/>
          <a:rect l="0" t="0" r="0" b="0"/>
          <a:pathLst>
            <a:path>
              <a:moveTo>
                <a:pt x="2547103" y="0"/>
              </a:moveTo>
              <a:lnTo>
                <a:pt x="2547103" y="239943"/>
              </a:lnTo>
              <a:lnTo>
                <a:pt x="0" y="239943"/>
              </a:lnTo>
              <a:lnTo>
                <a:pt x="0" y="445687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9175" y="3183325"/>
        <a:ext cx="129562" cy="4762"/>
      </dsp:txXfrm>
    </dsp:sp>
    <dsp:sp modelId="{609B7C9C-3548-4811-A5A1-D3C5CD854AF1}">
      <dsp:nvSpPr>
        <dsp:cNvPr id="0" name=""/>
        <dsp:cNvSpPr/>
      </dsp:nvSpPr>
      <dsp:spPr>
        <a:xfrm>
          <a:off x="3422100" y="1722173"/>
          <a:ext cx="2070815" cy="124248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472" tIns="106512" rIns="101472" bIns="10651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Grandview Display"/>
            </a:rPr>
            <a:t>- `</a:t>
          </a:r>
          <a:r>
            <a:rPr lang="en-US" sz="1500" kern="1200" dirty="0" err="1">
              <a:latin typeface="Grandview Display"/>
            </a:rPr>
            <a:t>repayLoan</a:t>
          </a:r>
          <a:r>
            <a:rPr lang="en-US" sz="1500" kern="1200" dirty="0">
              <a:latin typeface="Grandview Display"/>
            </a:rPr>
            <a:t>()`: Borrower repays the total (principal + interest)</a:t>
          </a:r>
        </a:p>
      </dsp:txBody>
      <dsp:txXfrm>
        <a:off x="3422100" y="1722173"/>
        <a:ext cx="2070815" cy="1242489"/>
      </dsp:txXfrm>
    </dsp:sp>
    <dsp:sp modelId="{D7AA06F2-A8FD-49F6-90CC-7CD7D35B6FD4}">
      <dsp:nvSpPr>
        <dsp:cNvPr id="0" name=""/>
        <dsp:cNvSpPr/>
      </dsp:nvSpPr>
      <dsp:spPr>
        <a:xfrm>
          <a:off x="2944012" y="4016474"/>
          <a:ext cx="44568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45687" y="45720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54949" y="4059813"/>
        <a:ext cx="23814" cy="4762"/>
      </dsp:txXfrm>
    </dsp:sp>
    <dsp:sp modelId="{44C56916-1ACC-48F7-B5B2-53C5E9B86677}">
      <dsp:nvSpPr>
        <dsp:cNvPr id="0" name=""/>
        <dsp:cNvSpPr/>
      </dsp:nvSpPr>
      <dsp:spPr>
        <a:xfrm>
          <a:off x="874997" y="3440950"/>
          <a:ext cx="2070815" cy="124248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472" tIns="106512" rIns="101472" bIns="10651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Grandview Display"/>
            </a:rPr>
            <a:t>- `</a:t>
          </a:r>
          <a:r>
            <a:rPr lang="en-US" sz="1500" kern="1200" dirty="0" err="1">
              <a:latin typeface="Grandview Display"/>
            </a:rPr>
            <a:t>checkStatus</a:t>
          </a:r>
          <a:r>
            <a:rPr lang="en-US" sz="1500" kern="1200" dirty="0">
              <a:latin typeface="Grandview Display"/>
            </a:rPr>
            <a:t>()`: Shows current loan state (Requested, Active, Repaid, Defaulted)</a:t>
          </a:r>
        </a:p>
      </dsp:txBody>
      <dsp:txXfrm>
        <a:off x="874997" y="3440950"/>
        <a:ext cx="2070815" cy="1242489"/>
      </dsp:txXfrm>
    </dsp:sp>
    <dsp:sp modelId="{DF6EB9A1-0B6D-40BD-B24E-FC67CB2AA304}">
      <dsp:nvSpPr>
        <dsp:cNvPr id="0" name=""/>
        <dsp:cNvSpPr/>
      </dsp:nvSpPr>
      <dsp:spPr>
        <a:xfrm>
          <a:off x="1910404" y="4681639"/>
          <a:ext cx="2547103" cy="445687"/>
        </a:xfrm>
        <a:custGeom>
          <a:avLst/>
          <a:gdLst/>
          <a:ahLst/>
          <a:cxnLst/>
          <a:rect l="0" t="0" r="0" b="0"/>
          <a:pathLst>
            <a:path>
              <a:moveTo>
                <a:pt x="2547103" y="0"/>
              </a:moveTo>
              <a:lnTo>
                <a:pt x="2547103" y="239943"/>
              </a:lnTo>
              <a:lnTo>
                <a:pt x="0" y="239943"/>
              </a:lnTo>
              <a:lnTo>
                <a:pt x="0" y="445687"/>
              </a:lnTo>
            </a:path>
          </a:pathLst>
        </a:custGeom>
        <a:noFill/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19175" y="4902101"/>
        <a:ext cx="129562" cy="4762"/>
      </dsp:txXfrm>
    </dsp:sp>
    <dsp:sp modelId="{EC6C6D54-A922-4E5C-A04C-33B7F24F57BA}">
      <dsp:nvSpPr>
        <dsp:cNvPr id="0" name=""/>
        <dsp:cNvSpPr/>
      </dsp:nvSpPr>
      <dsp:spPr>
        <a:xfrm>
          <a:off x="3422100" y="3440950"/>
          <a:ext cx="2070815" cy="124248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472" tIns="106512" rIns="101472" bIns="10651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Grandview Display"/>
            </a:rPr>
            <a:t>Automatic tracking of deadlines and repayments</a:t>
          </a:r>
        </a:p>
      </dsp:txBody>
      <dsp:txXfrm>
        <a:off x="3422100" y="3440950"/>
        <a:ext cx="2070815" cy="1242489"/>
      </dsp:txXfrm>
    </dsp:sp>
    <dsp:sp modelId="{5154C901-5C1B-4F72-9FC6-51D35B20FB63}">
      <dsp:nvSpPr>
        <dsp:cNvPr id="0" name=""/>
        <dsp:cNvSpPr/>
      </dsp:nvSpPr>
      <dsp:spPr>
        <a:xfrm>
          <a:off x="874997" y="5159727"/>
          <a:ext cx="2070815" cy="1242489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472" tIns="106512" rIns="101472" bIns="106512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Grandview Display"/>
            </a:rPr>
            <a:t>Transparency using blockchain</a:t>
          </a:r>
        </a:p>
      </dsp:txBody>
      <dsp:txXfrm>
        <a:off x="874997" y="5159727"/>
        <a:ext cx="2070815" cy="12424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F44A0-F9D4-FF9E-F9E0-BC7A13D7A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5B83F4-0F4A-B1E9-C200-1847C0E9C7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CA669-DCCA-8800-4A8C-833A50C81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554-1C23-E647-99E5-161B82822C9C}" type="datetimeFigureOut">
              <a:rPr lang="en-EG" smtClean="0"/>
              <a:t>06/02/2025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1721A-EE59-D3D3-87E7-B00B1865C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74840-7893-8575-F713-41354BCC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C540-5A6A-B04A-BD8C-9DBEE483A6EC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31455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B45C4-882A-8D80-493E-89F1C6EFF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3B8FB-21CA-1994-423E-1F6AF2BB5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BA091-2A4F-CFA4-012C-7F6FCF129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554-1C23-E647-99E5-161B82822C9C}" type="datetimeFigureOut">
              <a:rPr lang="en-EG" smtClean="0"/>
              <a:t>06/02/2025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71490-4C89-B728-2524-DF4F34FCA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BCA62-F149-E640-CC8B-1E4376FD7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C540-5A6A-B04A-BD8C-9DBEE483A6EC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571123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D4A5E-C7E3-3BA6-EEE3-F2E24577E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134BD-6C49-C918-78E2-6EBEB58864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34D5D-F3DF-E9E3-1338-603C11DB5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554-1C23-E647-99E5-161B82822C9C}" type="datetimeFigureOut">
              <a:rPr lang="en-EG" smtClean="0"/>
              <a:t>06/02/2025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F9392-C88B-E200-42D1-FC497F943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E5C42-ECC6-3295-AEA9-1F64E6C17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C540-5A6A-B04A-BD8C-9DBEE483A6EC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756389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0DACA-F7CC-79C3-9C19-A9C1DF2F0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6DF52-429F-D5C6-7071-F3F48A36C2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C1559-27B7-2A2B-B818-E0837D13D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A14F32-CC85-0117-F54B-3E8AE1550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554-1C23-E647-99E5-161B82822C9C}" type="datetimeFigureOut">
              <a:rPr lang="en-EG" smtClean="0"/>
              <a:t>06/02/2025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48458-A6AD-134B-423C-A17B5A86E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C9F4F-024E-E127-5C56-BCF74039F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C540-5A6A-B04A-BD8C-9DBEE483A6EC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197932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3CAB7-DB88-7A96-F768-1946E6E79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0B246-3F38-4CC8-5A02-F8DC034D8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37C490-F08E-676B-9FDC-805972F73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2B46B0-1B3E-B203-DE6E-AA83FB357A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53872C-4525-9533-7D51-751C3C78E8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006683-2AAA-F482-D415-8E378C76C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554-1C23-E647-99E5-161B82822C9C}" type="datetimeFigureOut">
              <a:rPr lang="en-EG" smtClean="0"/>
              <a:t>06/02/2025</a:t>
            </a:fld>
            <a:endParaRPr lang="en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D1CBD5-1EC3-A47F-42E3-276D5986A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34BC0B-8B65-AF35-D5E7-09CC70494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C540-5A6A-B04A-BD8C-9DBEE483A6EC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93584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D1A72-77E3-7A01-3100-FC465912F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912300-C46E-772B-2679-4C5FAAC13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554-1C23-E647-99E5-161B82822C9C}" type="datetimeFigureOut">
              <a:rPr lang="en-EG" smtClean="0"/>
              <a:t>06/02/2025</a:t>
            </a:fld>
            <a:endParaRPr lang="en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95CC68-14EF-AB87-3F14-A605B9AE9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69FB2-9CE6-872A-AAB6-F5922240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C540-5A6A-B04A-BD8C-9DBEE483A6EC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147470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F6F797-4128-2C01-51AF-338853E63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554-1C23-E647-99E5-161B82822C9C}" type="datetimeFigureOut">
              <a:rPr lang="en-EG" smtClean="0"/>
              <a:t>06/02/2025</a:t>
            </a:fld>
            <a:endParaRPr lang="en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2E1BCB-2104-5924-D791-04676BC77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081B2A-A5E9-0136-68C1-D079E99D9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C540-5A6A-B04A-BD8C-9DBEE483A6EC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811545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5B919-6DB3-8621-4002-1E85453AC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EB6AA-09E5-ACC7-9598-F4178DBAD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DC5BE-14F9-9696-F71C-3E3D80EFD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A5E5B-9CBC-C32D-FA79-C92352F2B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554-1C23-E647-99E5-161B82822C9C}" type="datetimeFigureOut">
              <a:rPr lang="en-EG" smtClean="0"/>
              <a:t>06/02/2025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B2E47-158D-65E1-B746-B30F0CAB8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C9ECD4-91CF-D337-7DF3-FD51F4754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C540-5A6A-B04A-BD8C-9DBEE483A6EC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3411225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770B9-01B2-7432-CC07-D5537CD56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C8FD8D-822A-1068-99F8-F86D398A78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E37624-45B3-5A3F-8300-514709A3A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D6FBC-8BBB-B0F9-218B-5FD087628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554-1C23-E647-99E5-161B82822C9C}" type="datetimeFigureOut">
              <a:rPr lang="en-EG" smtClean="0"/>
              <a:t>06/02/2025</a:t>
            </a:fld>
            <a:endParaRPr lang="en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0FBF81-4CA0-AFDD-3F22-3C996E09B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27F9B0-543A-F078-67B4-2A856C5B9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C540-5A6A-B04A-BD8C-9DBEE483A6EC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177371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7F8F6-A51C-AA04-1D22-C5A79CBB6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BA413A-BB7B-788C-2006-9DD8D85277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50E7F-FD2C-80DB-ECC5-10753C748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554-1C23-E647-99E5-161B82822C9C}" type="datetimeFigureOut">
              <a:rPr lang="en-EG" smtClean="0"/>
              <a:t>06/02/2025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DE674-4FB3-7B98-A28B-ADA66D5D6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6767A-B590-9A6A-AAED-E173DC911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C540-5A6A-B04A-BD8C-9DBEE483A6EC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2765710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3998E5-642C-E557-8497-CAF79D4AC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B3395-F1CB-79C8-16FE-663E39417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78149-7A58-3BB9-3510-6FE3A82AD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21554-1C23-E647-99E5-161B82822C9C}" type="datetimeFigureOut">
              <a:rPr lang="en-EG" smtClean="0"/>
              <a:t>06/02/2025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D2C01-B69D-4BF2-B4AD-2F52055F5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68B5B-52AE-24A4-5EE6-B025069E7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9C540-5A6A-B04A-BD8C-9DBEE483A6EC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1087411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A1200-BD2B-BF66-12E1-6A31975D0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27197-19D3-2F19-5241-5920CF0C47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557F9-92AD-63C3-0E5F-8635EE610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21554-1C23-E647-99E5-161B82822C9C}" type="datetimeFigureOut">
              <a:rPr lang="en-EG" smtClean="0"/>
              <a:t>06/02/2025</a:t>
            </a:fld>
            <a:endParaRPr lang="en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36533-8640-D5D6-95E8-122F603A5D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B3779-2524-E915-EAF8-32CF5AAD3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9C540-5A6A-B04A-BD8C-9DBEE483A6EC}" type="slidenum">
              <a:rPr lang="en-EG" smtClean="0"/>
              <a:t>‹#›</a:t>
            </a:fld>
            <a:endParaRPr lang="en-EG"/>
          </a:p>
        </p:txBody>
      </p:sp>
    </p:spTree>
    <p:extLst>
      <p:ext uri="{BB962C8B-B14F-4D97-AF65-F5344CB8AC3E}">
        <p14:creationId xmlns:p14="http://schemas.microsoft.com/office/powerpoint/2010/main" val="808644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Robot operating a machine">
            <a:extLst>
              <a:ext uri="{FF2B5EF4-FFF2-40B4-BE49-F238E27FC236}">
                <a16:creationId xmlns:a16="http://schemas.microsoft.com/office/drawing/2014/main" id="{06D4D3B6-C9F2-ADAE-7EC0-099FF4CC9C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809" b="909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DEF744-8138-6083-27D5-09AC31961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4400" b="1" dirty="0">
                <a:solidFill>
                  <a:schemeClr val="bg1"/>
                </a:solidFill>
                <a:latin typeface="Grandview Display"/>
              </a:rPr>
              <a:t>Blockchain-Based Automated Loan Management</a:t>
            </a:r>
            <a:endParaRPr lang="en-EG" sz="4400" b="1" dirty="0">
              <a:solidFill>
                <a:schemeClr val="bg1"/>
              </a:solidFill>
              <a:latin typeface="Grandview Display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2F29B3-226C-88DA-032C-F85272ABE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559655"/>
            <a:ext cx="4649892" cy="186854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1400" dirty="0">
                <a:solidFill>
                  <a:schemeClr val="bg1"/>
                </a:solidFill>
                <a:latin typeface="Grandview Display"/>
              </a:rPr>
              <a:t>Team Members:</a:t>
            </a:r>
            <a:endParaRPr lang="en-US" sz="1400">
              <a:solidFill>
                <a:schemeClr val="bg1"/>
              </a:solidFill>
              <a:latin typeface="Grandview Display"/>
              <a:ea typeface="Calibri"/>
              <a:cs typeface="Calibri"/>
            </a:endParaRPr>
          </a:p>
          <a:p>
            <a:pPr marL="342900" indent="-342900" algn="l">
              <a:buFontTx/>
              <a:buChar char="-"/>
            </a:pPr>
            <a:r>
              <a:rPr lang="en-US" sz="1400" dirty="0">
                <a:solidFill>
                  <a:schemeClr val="bg1"/>
                </a:solidFill>
                <a:latin typeface="Grandview Display"/>
              </a:rPr>
              <a:t>Nadine Basha</a:t>
            </a:r>
            <a:endParaRPr lang="en-US" sz="1400">
              <a:solidFill>
                <a:schemeClr val="bg1"/>
              </a:solidFill>
              <a:latin typeface="Grandview Display"/>
              <a:ea typeface="Calibri"/>
              <a:cs typeface="Calibri"/>
            </a:endParaRPr>
          </a:p>
          <a:p>
            <a:pPr marL="342900" indent="-342900" algn="l">
              <a:buFontTx/>
              <a:buChar char="-"/>
            </a:pPr>
            <a:r>
              <a:rPr lang="en-US" sz="1400" dirty="0">
                <a:solidFill>
                  <a:schemeClr val="bg1"/>
                </a:solidFill>
                <a:latin typeface="Grandview Display"/>
              </a:rPr>
              <a:t>Jomana Hesham</a:t>
            </a:r>
            <a:endParaRPr lang="en-US" sz="1400">
              <a:solidFill>
                <a:schemeClr val="bg1"/>
              </a:solidFill>
              <a:latin typeface="Grandview Display"/>
              <a:ea typeface="Calibri"/>
              <a:cs typeface="Calibri"/>
            </a:endParaRPr>
          </a:p>
          <a:p>
            <a:pPr marL="342900" indent="-342900" algn="l">
              <a:buFontTx/>
              <a:buChar char="-"/>
            </a:pPr>
            <a:r>
              <a:rPr lang="en-US" sz="1400" dirty="0">
                <a:solidFill>
                  <a:schemeClr val="bg1"/>
                </a:solidFill>
                <a:latin typeface="Grandview Display"/>
              </a:rPr>
              <a:t>Laila Elsharkawy</a:t>
            </a:r>
            <a:endParaRPr lang="en-US" sz="1400">
              <a:solidFill>
                <a:schemeClr val="bg1"/>
              </a:solidFill>
              <a:latin typeface="Grandview Display"/>
              <a:ea typeface="Calibri"/>
              <a:cs typeface="Calibri"/>
            </a:endParaRPr>
          </a:p>
          <a:p>
            <a:pPr marL="342900" indent="-342900" algn="l">
              <a:buFontTx/>
              <a:buChar char="-"/>
            </a:pPr>
            <a:r>
              <a:rPr lang="en-US" sz="1400" dirty="0">
                <a:solidFill>
                  <a:schemeClr val="bg1"/>
                </a:solidFill>
                <a:latin typeface="Grandview Display"/>
              </a:rPr>
              <a:t>Laila Nour</a:t>
            </a:r>
            <a:endParaRPr lang="en-US" sz="1400">
              <a:solidFill>
                <a:schemeClr val="bg1"/>
              </a:solidFill>
              <a:latin typeface="Grandview Display"/>
              <a:ea typeface="Calibri"/>
              <a:cs typeface="Calibri"/>
            </a:endParaRPr>
          </a:p>
          <a:p>
            <a:pPr marL="342900" indent="-342900" algn="l">
              <a:buFontTx/>
              <a:buChar char="-"/>
            </a:pPr>
            <a:r>
              <a:rPr lang="en-US" sz="1400" dirty="0">
                <a:solidFill>
                  <a:schemeClr val="bg1"/>
                </a:solidFill>
                <a:latin typeface="Grandview Display"/>
              </a:rPr>
              <a:t>Abdelrahman </a:t>
            </a:r>
            <a:r>
              <a:rPr lang="en-US" sz="1400" err="1">
                <a:solidFill>
                  <a:schemeClr val="bg1"/>
                </a:solidFill>
                <a:latin typeface="Grandview Display"/>
              </a:rPr>
              <a:t>Elaghil</a:t>
            </a:r>
            <a:endParaRPr lang="en-EG" sz="1400" err="1">
              <a:solidFill>
                <a:schemeClr val="bg1"/>
              </a:solidFill>
              <a:latin typeface="Grandview Display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67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D412943-A753-75EF-3D4F-C7BB012F4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2149752"/>
            <a:ext cx="2655887" cy="3103211"/>
          </a:xfrm>
        </p:spPr>
        <p:txBody>
          <a:bodyPr anchor="t">
            <a:normAutofit/>
          </a:bodyPr>
          <a:lstStyle/>
          <a:p>
            <a:r>
              <a:rPr lang="en-EG" sz="8800" dirty="0">
                <a:latin typeface="Grandview Display"/>
              </a:rPr>
              <a:t>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6C759-B7CE-EDD5-CE73-2A1CE4464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1" y="1721579"/>
            <a:ext cx="6140449" cy="395264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200" dirty="0">
                <a:solidFill>
                  <a:schemeClr val="tx1">
                    <a:alpha val="80000"/>
                  </a:schemeClr>
                </a:solidFill>
                <a:latin typeface="Grandview Display"/>
              </a:rPr>
              <a:t> Real-World Financial Problem: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  <a:latin typeface="Grandview Display"/>
              </a:rPr>
              <a:t>Traditional loans involve paperwork, delays, and manual approvals.</a:t>
            </a:r>
            <a:endParaRPr lang="en-US" sz="2200">
              <a:solidFill>
                <a:schemeClr val="tx1">
                  <a:alpha val="80000"/>
                </a:schemeClr>
              </a:solidFill>
              <a:latin typeface="Grandview Display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  <a:latin typeface="Grandview Display"/>
              </a:rPr>
              <a:t>Lack of transparency in loan terms and repayment.</a:t>
            </a:r>
            <a:endParaRPr lang="en-US" sz="2200">
              <a:solidFill>
                <a:schemeClr val="tx1">
                  <a:alpha val="80000"/>
                </a:schemeClr>
              </a:solidFill>
              <a:latin typeface="Grandview Display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  <a:latin typeface="Grandview Display"/>
              </a:rPr>
              <a:t>Risk of default with no automated enforcement.</a:t>
            </a:r>
            <a:endParaRPr lang="en-US" sz="2200">
              <a:solidFill>
                <a:schemeClr val="tx1">
                  <a:alpha val="80000"/>
                </a:schemeClr>
              </a:solidFill>
              <a:latin typeface="Grandview Display"/>
              <a:ea typeface="Calibri"/>
              <a:cs typeface="Calibri"/>
            </a:endParaRPr>
          </a:p>
          <a:p>
            <a:endParaRPr lang="en-US" sz="2200" dirty="0">
              <a:solidFill>
                <a:schemeClr val="tx1">
                  <a:alpha val="80000"/>
                </a:schemeClr>
              </a:solidFill>
              <a:latin typeface="Grandview Display"/>
            </a:endParaRPr>
          </a:p>
          <a:p>
            <a:r>
              <a:rPr lang="en-EG" sz="2200" dirty="0">
                <a:solidFill>
                  <a:schemeClr val="tx1">
                    <a:alpha val="80000"/>
                  </a:schemeClr>
                </a:solidFill>
                <a:latin typeface="Grandview Display"/>
              </a:rPr>
              <a:t> </a:t>
            </a:r>
            <a:r>
              <a:rPr lang="en-US" sz="2200" dirty="0">
                <a:solidFill>
                  <a:schemeClr val="tx1">
                    <a:alpha val="80000"/>
                  </a:schemeClr>
                </a:solidFill>
                <a:latin typeface="Grandview Display"/>
              </a:rPr>
              <a:t>Use Case:</a:t>
            </a:r>
            <a:endParaRPr lang="en-US" sz="2200">
              <a:solidFill>
                <a:schemeClr val="tx1">
                  <a:alpha val="80000"/>
                </a:schemeClr>
              </a:solidFill>
              <a:latin typeface="Grandview Display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1">
                    <a:alpha val="80000"/>
                  </a:schemeClr>
                </a:solidFill>
                <a:latin typeface="Grandview Display"/>
              </a:rPr>
              <a:t>A decentralized smart contract system to automate loan approval, fund disbursement, and repayment in a secure, transparent way.</a:t>
            </a:r>
            <a:endParaRPr lang="en-US" sz="2200">
              <a:solidFill>
                <a:schemeClr val="tx1">
                  <a:alpha val="80000"/>
                </a:schemeClr>
              </a:solidFill>
              <a:latin typeface="Grandview Display"/>
              <a:ea typeface="Calibri"/>
              <a:cs typeface="Calibri"/>
            </a:endParaRPr>
          </a:p>
          <a:p>
            <a:endParaRPr lang="en-EG" sz="220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783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olor">
            <a:extLst>
              <a:ext uri="{FF2B5EF4-FFF2-40B4-BE49-F238E27FC236}">
                <a16:creationId xmlns:a16="http://schemas.microsoft.com/office/drawing/2014/main" id="{3BE6D516-DFC6-4698-B3F1-5F591C113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07053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1CE2F14-0EA0-8027-5518-30B16D043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EG" sz="4800" dirty="0">
                <a:solidFill>
                  <a:schemeClr val="bg1"/>
                </a:solidFill>
                <a:latin typeface="Grandview Display"/>
              </a:rPr>
              <a:t>Smart Contract Features</a:t>
            </a:r>
            <a:endParaRPr lang="en-US" sz="4800" dirty="0">
              <a:solidFill>
                <a:schemeClr val="bg1"/>
              </a:solidFill>
              <a:latin typeface="Grandview Display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7268FA-BF49-C638-3B07-49576F7C22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7115041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59962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DDD67-CF65-89D2-6A8B-854EB9CBD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EG" sz="5400" dirty="0">
                <a:latin typeface="Grandview Display"/>
              </a:rPr>
              <a:t>Testing and Deployment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A8C7A5C-E871-72C1-646F-769DDEEFC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700" dirty="0">
                <a:latin typeface="Grandview Display"/>
              </a:rPr>
              <a:t>Testing:</a:t>
            </a:r>
          </a:p>
          <a:p>
            <a:pPr marL="0" indent="0">
              <a:buNone/>
            </a:pPr>
            <a:r>
              <a:rPr lang="en-US" sz="1700" dirty="0">
                <a:latin typeface="Grandview Display"/>
              </a:rPr>
              <a:t>- Conducted using Remix IDE </a:t>
            </a:r>
          </a:p>
          <a:p>
            <a:pPr marL="0" indent="0">
              <a:buNone/>
            </a:pPr>
            <a:r>
              <a:rPr lang="en-US" sz="1700" dirty="0">
                <a:latin typeface="Grandview Display"/>
              </a:rPr>
              <a:t>- Multiple accounts used (borrower, lender)</a:t>
            </a:r>
          </a:p>
          <a:p>
            <a:pPr marL="0" indent="0">
              <a:buNone/>
            </a:pPr>
            <a:r>
              <a:rPr lang="en-US" sz="1700" dirty="0">
                <a:latin typeface="Grandview Display"/>
              </a:rPr>
              <a:t>- Transactions logged and verified via console</a:t>
            </a:r>
          </a:p>
          <a:p>
            <a:endParaRPr lang="en-US" sz="1700" dirty="0">
              <a:latin typeface="Grandview Display"/>
            </a:endParaRPr>
          </a:p>
          <a:p>
            <a:r>
              <a:rPr lang="en-US" sz="1700" dirty="0">
                <a:latin typeface="Grandview Display"/>
              </a:rPr>
              <a:t>Deployment:</a:t>
            </a:r>
            <a:endParaRPr lang="en-US" sz="1700" dirty="0">
              <a:latin typeface="Grandview Display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700" dirty="0">
                <a:latin typeface="Grandview Display"/>
              </a:rPr>
              <a:t>- Deployed using Remix with test ETH</a:t>
            </a:r>
          </a:p>
          <a:p>
            <a:pPr marL="0" indent="0">
              <a:buNone/>
            </a:pPr>
            <a:r>
              <a:rPr lang="en-US" sz="1700" dirty="0">
                <a:latin typeface="Grandview Display"/>
              </a:rPr>
              <a:t>- Successful loan cycle simulated: request → approve → repay</a:t>
            </a:r>
          </a:p>
          <a:p>
            <a:endParaRPr lang="en-EG" sz="1700"/>
          </a:p>
        </p:txBody>
      </p:sp>
      <p:pic>
        <p:nvPicPr>
          <p:cNvPr id="8" name="Picture 7" descr="Computer script on a screen">
            <a:extLst>
              <a:ext uri="{FF2B5EF4-FFF2-40B4-BE49-F238E27FC236}">
                <a16:creationId xmlns:a16="http://schemas.microsoft.com/office/drawing/2014/main" id="{DFFA1B31-1F3C-7466-8915-89D7966514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047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081552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2">
              <a:lumMod val="5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B0951-73B0-49E3-92BF-31C22C381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Grandview Display"/>
              </a:rPr>
              <a:t>Demonstration &amp; Outputs</a:t>
            </a:r>
            <a:endParaRPr lang="en-EG" dirty="0">
              <a:solidFill>
                <a:schemeClr val="bg1"/>
              </a:solidFill>
              <a:latin typeface="Grandview Display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EF2B0-CFB2-D653-632E-FB21DDFF3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randview Display"/>
              </a:rPr>
              <a:t>Demo Highlights: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Grandview Display"/>
              </a:rPr>
              <a:t>- Loan Requested → Loan Approved → Loan Repaid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Grandview Display"/>
              </a:rPr>
              <a:t>- `</a:t>
            </a:r>
            <a:r>
              <a:rPr lang="en-US" sz="2000" err="1">
                <a:solidFill>
                  <a:schemeClr val="bg1"/>
                </a:solidFill>
                <a:latin typeface="Grandview Display"/>
              </a:rPr>
              <a:t>checkStatus</a:t>
            </a:r>
            <a:r>
              <a:rPr lang="en-US" sz="2000" dirty="0">
                <a:solidFill>
                  <a:schemeClr val="bg1"/>
                </a:solidFill>
                <a:latin typeface="Grandview Display"/>
              </a:rPr>
              <a:t>()` shows real-time state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Grandview Display"/>
              </a:rPr>
              <a:t>- `</a:t>
            </a:r>
            <a:r>
              <a:rPr lang="en-US" sz="2000" err="1">
                <a:solidFill>
                  <a:schemeClr val="bg1"/>
                </a:solidFill>
                <a:latin typeface="Grandview Display"/>
              </a:rPr>
              <a:t>getDetails</a:t>
            </a:r>
            <a:r>
              <a:rPr lang="en-US" sz="2000" dirty="0">
                <a:solidFill>
                  <a:schemeClr val="bg1"/>
                </a:solidFill>
                <a:latin typeface="Grandview Display"/>
              </a:rPr>
              <a:t>()` confirms terms and addresses</a:t>
            </a:r>
          </a:p>
          <a:p>
            <a:endParaRPr lang="en-US" sz="2000" dirty="0">
              <a:solidFill>
                <a:schemeClr val="bg1"/>
              </a:solidFill>
              <a:latin typeface="Grandview Display"/>
            </a:endParaRPr>
          </a:p>
          <a:p>
            <a:r>
              <a:rPr lang="en-US" sz="2000" dirty="0">
                <a:solidFill>
                  <a:schemeClr val="bg1"/>
                </a:solidFill>
                <a:latin typeface="Grandview Display"/>
              </a:rPr>
              <a:t>Sample Input:</a:t>
            </a:r>
            <a:endParaRPr lang="en-US" sz="2000">
              <a:solidFill>
                <a:schemeClr val="bg1"/>
              </a:solidFill>
              <a:latin typeface="Grandview Display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Grandview Display"/>
              </a:rPr>
              <a:t>- Loan: Interest: 10%, Duration: 30 days</a:t>
            </a:r>
          </a:p>
          <a:p>
            <a:r>
              <a:rPr lang="en-US" sz="2000" dirty="0">
                <a:solidFill>
                  <a:schemeClr val="bg1"/>
                </a:solidFill>
                <a:latin typeface="Grandview Display"/>
              </a:rPr>
              <a:t>Output:</a:t>
            </a:r>
            <a:endParaRPr lang="en-US" sz="2000">
              <a:solidFill>
                <a:schemeClr val="bg1"/>
              </a:solidFill>
              <a:latin typeface="Grandview Display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  <a:latin typeface="Grandview Display"/>
              </a:rPr>
              <a:t>- Status: “Loan Active” → “Loan Repaid”</a:t>
            </a:r>
          </a:p>
          <a:p>
            <a:endParaRPr lang="en-EG" sz="2000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0259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43814A-0BBC-DF82-1235-98AAF677F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ctr"/>
            <a:r>
              <a:rPr lang="en-US" sz="6600" dirty="0">
                <a:latin typeface="Grandview Display"/>
              </a:rPr>
              <a:t>Impact &amp; Future Scope</a:t>
            </a:r>
            <a:endParaRPr lang="en-EG" sz="6600" dirty="0">
              <a:latin typeface="Grandview Display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84E62-01D0-F766-40E5-46A6F24D7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900" dirty="0">
                <a:latin typeface="Grandview Display"/>
                <a:ea typeface="Calibri Light"/>
                <a:cs typeface="Calibri Light"/>
              </a:rPr>
              <a:t>Benefits:</a:t>
            </a:r>
          </a:p>
          <a:p>
            <a:pPr marL="0" indent="0">
              <a:buNone/>
            </a:pPr>
            <a:r>
              <a:rPr lang="en-US" sz="1900" dirty="0">
                <a:latin typeface="Grandview Display"/>
                <a:ea typeface="Calibri Light"/>
                <a:cs typeface="Calibri Light"/>
              </a:rPr>
              <a:t>- Removes intermediaries (banks)</a:t>
            </a:r>
          </a:p>
          <a:p>
            <a:pPr marL="0" indent="0">
              <a:buNone/>
            </a:pPr>
            <a:r>
              <a:rPr lang="en-US" sz="1900" dirty="0">
                <a:latin typeface="Grandview Display"/>
                <a:ea typeface="Calibri Light"/>
                <a:cs typeface="Calibri Light"/>
              </a:rPr>
              <a:t>- Faster approvals and repayments</a:t>
            </a:r>
          </a:p>
          <a:p>
            <a:pPr marL="0" indent="0">
              <a:buNone/>
            </a:pPr>
            <a:r>
              <a:rPr lang="en-US" sz="1900" dirty="0">
                <a:latin typeface="Grandview Display"/>
                <a:ea typeface="Calibri Light"/>
                <a:cs typeface="Calibri Light"/>
              </a:rPr>
              <a:t>- Improves borrower-lender trust</a:t>
            </a:r>
          </a:p>
          <a:p>
            <a:endParaRPr lang="en-US" sz="1900" dirty="0">
              <a:latin typeface="Grandview Display"/>
              <a:ea typeface="Calibri Light"/>
              <a:cs typeface="Calibri Light"/>
            </a:endParaRPr>
          </a:p>
          <a:p>
            <a:r>
              <a:rPr lang="en-US" sz="1900" dirty="0">
                <a:latin typeface="Grandview Display"/>
                <a:ea typeface="Calibri Light"/>
                <a:cs typeface="Calibri Light"/>
              </a:rPr>
              <a:t>Future Scope:</a:t>
            </a:r>
          </a:p>
          <a:p>
            <a:pPr marL="0" indent="0">
              <a:buNone/>
            </a:pPr>
            <a:r>
              <a:rPr lang="en-US" sz="1900" dirty="0">
                <a:latin typeface="Grandview Display"/>
                <a:ea typeface="Calibri Light"/>
                <a:cs typeface="Calibri Light"/>
              </a:rPr>
              <a:t>- Add collateral system</a:t>
            </a:r>
          </a:p>
          <a:p>
            <a:pPr marL="0" indent="0">
              <a:buNone/>
            </a:pPr>
            <a:r>
              <a:rPr lang="en-US" sz="1900" dirty="0">
                <a:latin typeface="Grandview Display"/>
                <a:ea typeface="Calibri Light"/>
                <a:cs typeface="Calibri Light"/>
              </a:rPr>
              <a:t>- Support for partial repayments</a:t>
            </a:r>
          </a:p>
          <a:p>
            <a:pPr marL="0" indent="0">
              <a:buNone/>
            </a:pPr>
            <a:r>
              <a:rPr lang="en-US" sz="1900" dirty="0">
                <a:latin typeface="Grandview Display"/>
                <a:ea typeface="Calibri Light"/>
                <a:cs typeface="Calibri Light"/>
              </a:rPr>
              <a:t>- Frontend interface (</a:t>
            </a:r>
            <a:r>
              <a:rPr lang="en-US" sz="1900" err="1">
                <a:latin typeface="Grandview Display"/>
                <a:ea typeface="Calibri Light"/>
                <a:cs typeface="Calibri Light"/>
              </a:rPr>
              <a:t>DApp</a:t>
            </a:r>
            <a:r>
              <a:rPr lang="en-US" sz="1900" dirty="0">
                <a:latin typeface="Grandview Display"/>
                <a:ea typeface="Calibri Light"/>
                <a:cs typeface="Calibri Light"/>
              </a:rPr>
              <a:t>)</a:t>
            </a:r>
          </a:p>
          <a:p>
            <a:endParaRPr lang="en-EG" sz="1900"/>
          </a:p>
        </p:txBody>
      </p:sp>
    </p:spTree>
    <p:extLst>
      <p:ext uri="{BB962C8B-B14F-4D97-AF65-F5344CB8AC3E}">
        <p14:creationId xmlns:p14="http://schemas.microsoft.com/office/powerpoint/2010/main" val="364518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B84055-029C-4E86-8844-D05D96C02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A2842C0-6210-4FDB-B1FF-C14C92737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99037F2-4CAF-446B-90DB-1480B247A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28589C-AF3D-49CF-BD92-C1D1D2F53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95844" y="1110000"/>
            <a:ext cx="10195740" cy="4629235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CDA7C-1435-D369-0493-4F88D4FB3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485" y="2269524"/>
            <a:ext cx="8201552" cy="229574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000" kern="1200" dirty="0">
                <a:latin typeface="Grandview Display"/>
              </a:rPr>
              <a:t>🚀 Conclusion:</a:t>
            </a:r>
            <a:br>
              <a:rPr lang="en-US" sz="2000" kern="1200" dirty="0">
                <a:latin typeface="Grandview Display"/>
              </a:rPr>
            </a:br>
            <a:r>
              <a:rPr lang="en-US" sz="2000" kern="1200" dirty="0">
                <a:latin typeface="Grandview Display"/>
              </a:rPr>
              <a:t>- We demonstrated how smart contracts can solve real financial issues.</a:t>
            </a:r>
            <a:br>
              <a:rPr lang="en-US" sz="2000" kern="1200" dirty="0">
                <a:latin typeface="Grandview Display"/>
              </a:rPr>
            </a:br>
            <a:r>
              <a:rPr lang="en-US" sz="2000" kern="1200" dirty="0">
                <a:latin typeface="Grandview Display"/>
              </a:rPr>
              <a:t>- Our solution brings automation, speed, and trust to loan management.</a:t>
            </a:r>
            <a:br>
              <a:rPr lang="en-US" sz="2000" kern="1200" dirty="0">
                <a:latin typeface="Grandview Display"/>
              </a:rPr>
            </a:br>
            <a:br>
              <a:rPr lang="en-US" sz="2000" kern="1200" dirty="0">
                <a:latin typeface="Grandview Display"/>
              </a:rPr>
            </a:br>
            <a:r>
              <a:rPr lang="en-US" sz="2000" kern="1200" dirty="0">
                <a:latin typeface="Grandview Display"/>
              </a:rPr>
              <a:t>🙌 Thank you!</a:t>
            </a:r>
            <a:br>
              <a:rPr lang="en-US" sz="2000" kern="1200" dirty="0">
                <a:latin typeface="Grandview Display"/>
              </a:rPr>
            </a:br>
            <a:r>
              <a:rPr lang="en-US" sz="2000" kern="1200" dirty="0">
                <a:latin typeface="Grandview Display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58718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349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Blockchain-Based Automated Loan Management</vt:lpstr>
      <vt:lpstr>Use Case</vt:lpstr>
      <vt:lpstr>Smart Contract Features</vt:lpstr>
      <vt:lpstr>Testing and Deployment</vt:lpstr>
      <vt:lpstr>Demonstration &amp; Outputs</vt:lpstr>
      <vt:lpstr>Impact &amp; Future Scope</vt:lpstr>
      <vt:lpstr>🚀 Conclusion: - We demonstrated how smart contracts can solve real financial issues. - Our solution brings automation, speed, and trust to loan management.  🙌 Thank you!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Blockchain-Based Automated Loan Management</dc:title>
  <dc:creator>Microsoft Office User</dc:creator>
  <cp:lastModifiedBy>Microsoft Office User</cp:lastModifiedBy>
  <cp:revision>70</cp:revision>
  <dcterms:created xsi:type="dcterms:W3CDTF">2025-05-26T17:51:05Z</dcterms:created>
  <dcterms:modified xsi:type="dcterms:W3CDTF">2025-06-02T15:19:35Z</dcterms:modified>
</cp:coreProperties>
</file>